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youtube.com/watch?v=RLFpenFUhww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749040" y="502920"/>
            <a:ext cx="1645920" cy="1645920"/>
          </a:xfrm>
          <a:prstGeom prst="ellipse">
            <a:avLst/>
          </a:prstGeom>
          <a:solidFill>
            <a:srgbClr val="B886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49040" y="50292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🕊️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2286000" y="2395728"/>
            <a:ext cx="4572000" cy="4114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5420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SINIF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2944368"/>
            <a:ext cx="80467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Ünite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İslam Düşüncesinde Yorumlar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Kültürü ve Ahlak Bilgisi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Ayşe Yazıcı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Bu Ünitede Neler Öğreneceğiz?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960120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394460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3944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Anlayışındaki Yorum Farklılıklarının Sebepleri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258568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258568"/>
            <a:ext cx="82296" cy="960120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482596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48259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295144"/>
            <a:ext cx="717804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İslam Düşüncesinde Yorum Biçimleri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346704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346704"/>
            <a:ext cx="82296" cy="960120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57073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57073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383280"/>
            <a:ext cx="717804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İslam Düşüncesinde Tasavvufi Yorumlar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İslam Düşüncesinde Yorumlar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1219200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Anlayışındaki Yorum Farklılıklarının Sebepleri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anlayışı, insanların Allah'ın buyruklarını algılama, yorumlama ve uygulama biçimidir.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değişmez (Kur'an ve sünnet), din anlayışı ise kişiye, topluma ve döneme göre değişebilir.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73075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511296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Farklılıkların sebepleri: farklı coğrafya/kültürler, dinin temel kaynaklarında yoruma açık hükümler, sosyal-siyasi-insani sebepler, teknolojik gelişmeler, tarihteki savaş ve göçler.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İslam Düşüncesinde Yorumlar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1828800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İslam Düşüncesinde Yorum Biçimleri (1/2)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Mezhep, bir âlimin dinin ayrıntılarına ilişkin oluşturduğu görüşlerin bütünüdür.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Üç grupta incelenir: İtikadi yorumlar (inançla ilgili — itikat, tevhit): Matüridilik (Ebû Mansur Matüridi), Eşarilik (Ebülhasan Eşâri), Şiilik (Hz.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82296" cy="102412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730752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511296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Ali'nin halifeliği).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İslam Düşüncesinde Yorumlar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2438400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4552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455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İslam Düşüncesinde Yorum Biçimleri (2/2)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Fıkhi yorumlar (ibadet/muamelat — fıkıh): Hanefilik (Ebu Hanife, Türkiye), Malikilik (Malik bin Enes, Afrika), Şafiilik (İmam Şafii, Mısır/GD Anadolu), Hanbelilik (Ahmet bin Hanbel, Suudi Arabistan), Caferilik (Cafer…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Tasavvufi yorumlar (ahlak).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İslam Düşüncesinde Yorumlar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4552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5116068"/>
            <a:ext cx="3048000" cy="32004"/>
          </a:xfrm>
          <a:prstGeom prst="rect">
            <a:avLst/>
          </a:prstGeom>
          <a:solidFill>
            <a:srgbClr val="B4552B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6A3E7A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6A3E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İslam Düşüncesinde Tasavvufi Yorumlar (1/3)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Tasavvuf, İslam'ın ruhi/manevi yönünü öne çıkarır.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Şeyh (mürşit) tekkede dervişlere önderlik eder, mürit onu takip eder, tekke/dergâhta eğitim alınır.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82296" cy="1024128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730752"/>
            <a:ext cx="512064" cy="512064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511296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Başlıca yorumlar: Yesevilik (Hoca Ahmet Yesevi, Divan-ı Hikmet), Kadirilik (Abdülkadir Geylani, Fütûhu'l-Gayb), Mevlevilik (Mevlana Celaleddin Rumi, Mesnevi, sema ayini, Şebiarus), Nakşibendilik (Bahaeddin Nakşibend),…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İslam Düşüncesinde Yorumlar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6A3E7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3657600" cy="32004"/>
          </a:xfrm>
          <a:prstGeom prst="rect">
            <a:avLst/>
          </a:prstGeom>
          <a:solidFill>
            <a:srgbClr val="6A3E7A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İslam Düşüncesinde Tasavvufi Yorumlar (2/3)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 sevgisi; Hacı Bektaş Veli, Makâlât, dört kapı: Şeriat-Tarikat-Hakikat-Marifet).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Alevilik Bektaşilik kavramları: Cem (dede/pir önderliğinde toplantı), cemevi (kırklar meydanı), semah (dönerek yapılan ayin), gülbank (dua), musahiplik, talip, ocak.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82296" cy="1024128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730752"/>
            <a:ext cx="512064" cy="512064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511296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Cemde on iki hizmet (dede, rehber, peykçi, çerağcı, gözcü, zakir, sakkacı, pervane, iznikçi, sofracı, bekçi, ferraş) on iki imamı temsil eder.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İslam Düşüncesinde Yorumlar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42672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İslam Düşüncesinde Tasavvufi Yorumlar (3/3)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Hızır orucu (Şubat 13-14-15) ve Muharrem orucu (Hz. Hüseyin'in Kerbela'da şehadeti anısına) önemli oruçlardır.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İslam Düşüncesinde Yorumlar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5116068"/>
            <a:ext cx="4876800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🔑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Önemli Kavramlar (1/2)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anlayışı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45152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Mezhep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4552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6928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İtikadi yorumlar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45152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6A3E7A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itikat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66928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tevhit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45152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Fıkhi yorumlar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602736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66928" y="3602736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fıkıh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645152" y="3602736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4552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54880" y="3602736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Tasavvufi yorumlar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4407408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6A3E7A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66928" y="4407408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Tasavvuf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645152" y="4407408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54880" y="4407408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Şeyh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İslam Düşüncesinde Yorumlar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9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116068"/>
            <a:ext cx="54864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🔑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Önemli Kavramlar (2/2)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mürit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45152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tekke/dergâh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4552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6928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Yesevilik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45152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6A3E7A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Kadirilik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66928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Mevlevilik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45152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İslam Düşüncesinde Yorumlar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5116068"/>
            <a:ext cx="60960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AYETLERLE DÜŞÜNELİM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7680960" cy="2880360"/>
          </a:xfrm>
          <a:prstGeom prst="roundRect">
            <a:avLst>
              <a:gd name="adj" fmla="val 3175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96012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❝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1188720" y="1417320"/>
            <a:ext cx="6766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ki: Ben de ancak sizin gibi bir insanım; ancak bana ilâhınızın bir tek ilâh olduğu vahyolunuyor.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429000" y="3310128"/>
            <a:ext cx="2286000" cy="2743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4290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Fussilet suresi, 6. ayet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İslam Düşüncesinde Yorumlar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116068"/>
            <a:ext cx="67056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AYETLERLE DÜŞÜNELİM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7680960" cy="2880360"/>
          </a:xfrm>
          <a:prstGeom prst="roundRect">
            <a:avLst>
              <a:gd name="adj" fmla="val 3175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96012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❝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1188720" y="1417320"/>
            <a:ext cx="6766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Şüphesiz Allah, adaleti, iyiliği... emreder.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429000" y="3310128"/>
            <a:ext cx="2286000" cy="2743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4290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Nahl suresi, 90. ayet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İslam Düşüncesinde Yorumlar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116068"/>
            <a:ext cx="73152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2E7D5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2E7D5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9260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8FD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KONUYLA İLGİLİ VİDEO</a:t>
            </a:r>
            <a:endParaRPr lang="en-US" sz="1600" dirty="0"/>
          </a:p>
        </p:txBody>
      </p:sp>
      <p:sp>
        <p:nvSpPr>
          <p:cNvPr id="6" name="Shape 4">
            <a:hlinkClick r:id="rId1" tooltip="YouTube'da izlemek için tıklayın"/>
          </p:cNvPr>
          <p:cNvSpPr/>
          <p:nvPr/>
        </p:nvSpPr>
        <p:spPr>
          <a:xfrm>
            <a:off x="914400" y="868680"/>
            <a:ext cx="7315200" cy="3246120"/>
          </a:xfrm>
          <a:prstGeom prst="roundRect">
            <a:avLst>
              <a:gd name="adj" fmla="val 1690"/>
            </a:avLst>
          </a:prstGeom>
          <a:solidFill>
            <a:srgbClr val="0B0B0B"/>
          </a:solidFill>
          <a:ln w="25400">
            <a:solidFill>
              <a:srgbClr val="B8860B"/>
            </a:solidFill>
            <a:prstDash val="solid"/>
          </a:ln>
        </p:spPr>
      </p:sp>
      <p:sp>
        <p:nvSpPr>
          <p:cNvPr id="7" name="Shape 5">
            <a:hlinkClick r:id="rId1" tooltip="YouTube'da izlemek için tıklayın"/>
          </p:cNvPr>
          <p:cNvSpPr/>
          <p:nvPr/>
        </p:nvSpPr>
        <p:spPr>
          <a:xfrm>
            <a:off x="3977640" y="1920240"/>
            <a:ext cx="1188720" cy="1188720"/>
          </a:xfrm>
          <a:prstGeom prst="ellipse">
            <a:avLst/>
          </a:prstGeom>
          <a:solidFill>
            <a:srgbClr val="E6211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>
            <a:hlinkClick r:id="rId1" tooltip="YouTube'da izlemek için tıklayın"/>
          </p:cNvPr>
          <p:cNvSpPr/>
          <p:nvPr/>
        </p:nvSpPr>
        <p:spPr>
          <a:xfrm>
            <a:off x="3977640" y="192024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u="sng" dirty="0">
                <a:solidFill>
                  <a:srgbClr val="FFFFFF"/>
                </a:solidFill>
                <a:hlinkClick r:id="rId1" invalidUrl="" action="" tgtFrame="" tooltip="YouTube'da izlemek için tıklayı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</a:t>
            </a:r>
            <a:endParaRPr lang="en-US" sz="3600" dirty="0"/>
          </a:p>
        </p:txBody>
      </p:sp>
      <p:sp>
        <p:nvSpPr>
          <p:cNvPr id="9" name="Text 7">
            <a:hlinkClick r:id="rId1" tooltip="YouTube'da izlemek için tıklayın"/>
          </p:cNvPr>
          <p:cNvSpPr/>
          <p:nvPr/>
        </p:nvSpPr>
        <p:spPr>
          <a:xfrm>
            <a:off x="1188720" y="329184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YouTube'da izlemek için tıklayı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Mevlana Celaleddin Rumi - Hoşgörü Çizgi Filmi</a:t>
            </a:r>
            <a:endParaRPr lang="en-US" sz="1600" dirty="0"/>
          </a:p>
        </p:txBody>
      </p:sp>
      <p:sp>
        <p:nvSpPr>
          <p:cNvPr id="10" name="Text 8">
            <a:hlinkClick r:id="rId1" tooltip="YouTube'da izlemek için tıklayın"/>
          </p:cNvPr>
          <p:cNvSpPr/>
          <p:nvPr/>
        </p:nvSpPr>
        <p:spPr>
          <a:xfrm>
            <a:off x="914400" y="4206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u="sng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YouTube'da izlemek için tıklayı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👆 İzlemek için tıklayın (YouTube'da açılır)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İslam Düşüncesinde Yorumlar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116068"/>
            <a:ext cx="7924800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Ünite Özeti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960120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394460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3944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Anlayışındaki Yorum Farklılıklarının Sebepleri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258568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258568"/>
            <a:ext cx="82296" cy="960120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482596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48259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295144"/>
            <a:ext cx="717804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İslam Düşüncesinde Yorum Biçimleri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346704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346704"/>
            <a:ext cx="82296" cy="960120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570732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57073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383280"/>
            <a:ext cx="717804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İslam Düşüncesinde Tasavvufi Yorumlar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İslam Düşüncesinde Yorumlar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14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8534400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2E7D5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2E7D5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886200" y="502920"/>
            <a:ext cx="1371600" cy="1371600"/>
          </a:xfrm>
          <a:prstGeom prst="ellipse">
            <a:avLst/>
          </a:prstGeom>
          <a:solidFill>
            <a:srgbClr val="B886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86200" y="5029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🌟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2286000" y="2148840"/>
            <a:ext cx="4572000" cy="4114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2860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Dinlediğiniz İçin Teşekkürler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Başarılar dilerim.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429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Ayşe Yazıcı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Kültürü ve Ahlak Bilgisi Öğretmeni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7. Sınıf 5. Ünite: İslam Düşüncesinde Yorumlar</dc:title>
  <dc:subject>PptxGenJS Presentation</dc:subject>
  <dc:creator>Ayşe Yazıcı</dc:creator>
  <cp:lastModifiedBy>Ayşe Yazıcı</cp:lastModifiedBy>
  <cp:revision>1</cp:revision>
  <dcterms:created xsi:type="dcterms:W3CDTF">2026-07-12T13:29:59Z</dcterms:created>
  <dcterms:modified xsi:type="dcterms:W3CDTF">2026-07-12T13:29:59Z</dcterms:modified>
</cp:coreProperties>
</file>